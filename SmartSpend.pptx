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ibre Franklin" pitchFamily="2" charset="0"/>
      <p:regular r:id="rId17"/>
    </p:embeddedFont>
    <p:embeddedFont>
      <p:font typeface="Libre Franklin Bold" panose="020B0604020202020204" charset="0"/>
      <p:regular r:id="rId18"/>
    </p:embeddedFont>
    <p:embeddedFont>
      <p:font typeface="Libre Franklin Medium" pitchFamily="2" charset="0"/>
      <p:regular r:id="rId19"/>
    </p:embeddedFont>
    <p:embeddedFont>
      <p:font typeface="Playfair Display" panose="00000500000000000000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1234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64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SmartSpend project: a focused Minor Project for the Data Science Lab evaluating personal finance tracking for students through spreadsheet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core challenges students face: four recurring friction points that lead to mid-month budget depletion.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6 core functional objectives designed into the workbook, from structured logging to behavioral habit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software components: Excel performs the live calculation logic, Word holds the lab report, and PowerPoint frames the viva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 journey from raw input on the tracker sheet to aggregated KPI outputs on the summary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primary Excel Summary sheet screenshot. Emphasize that all numbers are demonstration data modeling student cash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three worksheets connect: data entered in Tracker flows to Summary and evaluates against limits set in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actionable budgeting habits that turn the technical Excel tool into sustained daily behavioral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academic rigor by clearly distinguishing current working features from design limits and proposed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presentation, summarize how spreadsheet tools deliver practical financial literacy, and invite questions from the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6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141"/>
            <a:ext cx="640064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DATA SCIENCE LAB · MINOR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1038083"/>
            <a:ext cx="5791055" cy="66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5800" kern="100" spc="-203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SmartSpend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09585" y="1837630"/>
            <a:ext cx="1910905" cy="38100"/>
          </a:xfrm>
          <a:prstGeom prst="roundRect">
            <a:avLst>
              <a:gd name="adj" fmla="val 49999"/>
            </a:avLst>
          </a:prstGeom>
          <a:solidFill>
            <a:srgbClr val="0A1A3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2144"/>
            <a:ext cx="6400640" cy="39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Budget Management for College Students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2731195"/>
            <a:ext cx="27024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0"/>
              </a:rPr>
              <a:t>Student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5" y="3076246"/>
            <a:ext cx="270245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Himanshu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40632" y="2731195"/>
            <a:ext cx="28600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0"/>
              </a:rPr>
              <a:t>UID / Section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40632" y="3076246"/>
            <a:ext cx="286000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26BCD10378 · 26BCD-6-B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09585" y="3811389"/>
            <a:ext cx="2473858" cy="689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Submitted to-</a:t>
            </a:r>
            <a:endParaRPr lang="en-US" sz="15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Simranjeet sir 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40632" y="3811389"/>
            <a:ext cx="28600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0"/>
              </a:rPr>
              <a:t>Submission 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0632" y="4156440"/>
            <a:ext cx="286000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2 November 2026</a:t>
            </a:r>
            <a:endParaRPr lang="en-US" sz="15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05688" y="2731195"/>
            <a:ext cx="12700" cy="851595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3576439"/>
            <a:ext cx="2702453" cy="12700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6" name="Shape 13"/>
          <p:cNvSpPr/>
          <p:nvPr/>
        </p:nvSpPr>
        <p:spPr>
          <a:xfrm>
            <a:off x="3305688" y="3582789"/>
            <a:ext cx="12700" cy="917773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7" name="Shape 14"/>
          <p:cNvSpPr/>
          <p:nvPr/>
        </p:nvSpPr>
        <p:spPr>
          <a:xfrm>
            <a:off x="3312037" y="3576439"/>
            <a:ext cx="3088602" cy="12700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13739" y="177800"/>
            <a:ext cx="1549361" cy="622300"/>
          </a:xfrm>
          <a:prstGeom prst="roundRect">
            <a:avLst>
              <a:gd name="adj" fmla="val 19591"/>
            </a:avLst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938" y="254000"/>
            <a:ext cx="1396965" cy="4699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0"/>
              </a:rPr>
              <a:t>Slide No- 1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1150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1095226"/>
            <a:ext cx="7213420" cy="94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Students struggle to see where their money goes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4673483" y="2188964"/>
            <a:ext cx="3530512" cy="1901130"/>
          </a:xfrm>
          <a:prstGeom prst="roundRect">
            <a:avLst>
              <a:gd name="adj" fmla="val 601"/>
            </a:avLst>
          </a:prstGeom>
          <a:solidFill>
            <a:srgbClr val="12294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8" y="2392164"/>
            <a:ext cx="444489" cy="44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678" y="2974627"/>
            <a:ext cx="3124122" cy="61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Daily expenses are hard to track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8356391" y="2188964"/>
            <a:ext cx="3530512" cy="1901130"/>
          </a:xfrm>
          <a:prstGeom prst="roundRect">
            <a:avLst>
              <a:gd name="adj" fmla="val 601"/>
            </a:avLst>
          </a:prstGeom>
          <a:solidFill>
            <a:srgbClr val="12294A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586" y="2392164"/>
            <a:ext cx="444489" cy="44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59586" y="2974627"/>
            <a:ext cx="3124122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Food, shopping, and entertainment lead to overspending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4673483" y="4242495"/>
            <a:ext cx="3530512" cy="1594445"/>
          </a:xfrm>
          <a:prstGeom prst="roundRect">
            <a:avLst>
              <a:gd name="adj" fmla="val 717"/>
            </a:avLst>
          </a:prstGeom>
          <a:solidFill>
            <a:srgbClr val="12294A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678" y="4445695"/>
            <a:ext cx="444489" cy="44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76678" y="5028158"/>
            <a:ext cx="3124122" cy="61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The remaining monthly balance is unclear</a:t>
            </a:r>
            <a:endParaRPr lang="en-US" sz="2100" dirty="0"/>
          </a:p>
        </p:txBody>
      </p:sp>
      <p:sp>
        <p:nvSpPr>
          <p:cNvPr id="13" name="Shape 7"/>
          <p:cNvSpPr/>
          <p:nvPr/>
        </p:nvSpPr>
        <p:spPr>
          <a:xfrm>
            <a:off x="8356391" y="4242495"/>
            <a:ext cx="3530512" cy="1594445"/>
          </a:xfrm>
          <a:prstGeom prst="roundRect">
            <a:avLst>
              <a:gd name="adj" fmla="val 717"/>
            </a:avLst>
          </a:prstGeom>
          <a:solidFill>
            <a:srgbClr val="12294A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586" y="4445695"/>
            <a:ext cx="444489" cy="444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59586" y="5028158"/>
            <a:ext cx="3124122" cy="61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Regular saving is hard to maintain</a:t>
            </a:r>
            <a:endParaRPr lang="en-US" sz="2100" dirty="0"/>
          </a:p>
        </p:txBody>
      </p:sp>
      <p:sp>
        <p:nvSpPr>
          <p:cNvPr id="16" name="Shape 9"/>
          <p:cNvSpPr/>
          <p:nvPr/>
        </p:nvSpPr>
        <p:spPr>
          <a:xfrm>
            <a:off x="10413739" y="177800"/>
            <a:ext cx="1549361" cy="622300"/>
          </a:xfrm>
          <a:prstGeom prst="roundRect">
            <a:avLst>
              <a:gd name="adj" fmla="val 19591"/>
            </a:avLst>
          </a:prstGeom>
          <a:solidFill>
            <a:srgbClr val="FFFFFF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9938" y="254000"/>
            <a:ext cx="1396965" cy="469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C015C5E4-74A0-8042-D699-81C879676EFA}"/>
              </a:ext>
            </a:extLst>
          </p:cNvPr>
          <p:cNvSpPr/>
          <p:nvPr/>
        </p:nvSpPr>
        <p:spPr>
          <a:xfrm>
            <a:off x="11112759" y="6573540"/>
            <a:ext cx="998376" cy="21332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Slide no- 2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861120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SYSTEM 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1215182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Six objectives guide SmartSpend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04792" y="1836043"/>
            <a:ext cx="3708307" cy="2089547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2064643"/>
            <a:ext cx="555611" cy="555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387" y="2752507"/>
            <a:ext cx="325111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Record income and expenses systematically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317892" y="1836043"/>
            <a:ext cx="3555911" cy="2089547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2064643"/>
            <a:ext cx="555611" cy="555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46486" y="2752507"/>
            <a:ext cx="3327317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Categorize spending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8178595" y="1836043"/>
            <a:ext cx="3708307" cy="2089547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190" y="2064643"/>
            <a:ext cx="555611" cy="555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07190" y="2752507"/>
            <a:ext cx="3251119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Calculate total income, total expenses, remaining balance, and savings rate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304792" y="4230390"/>
            <a:ext cx="3708307" cy="1774031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87" y="4458990"/>
            <a:ext cx="555611" cy="555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3387" y="5146854"/>
            <a:ext cx="325111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Compare actual spending with planned budgets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4317892" y="4230390"/>
            <a:ext cx="3555911" cy="1774031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486" y="4458990"/>
            <a:ext cx="555611" cy="555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46486" y="5146854"/>
            <a:ext cx="30987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Identify overspending using automatic alerts</a:t>
            </a:r>
            <a:endParaRPr lang="en-US" sz="1750" dirty="0"/>
          </a:p>
        </p:txBody>
      </p:sp>
      <p:sp>
        <p:nvSpPr>
          <p:cNvPr id="19" name="Shape 12"/>
          <p:cNvSpPr/>
          <p:nvPr/>
        </p:nvSpPr>
        <p:spPr>
          <a:xfrm>
            <a:off x="8178595" y="4230390"/>
            <a:ext cx="3708307" cy="1774031"/>
          </a:xfrm>
          <a:prstGeom prst="rect">
            <a:avLst/>
          </a:prstGeom>
          <a:solidFill>
            <a:srgbClr val="0D7658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190" y="4458990"/>
            <a:ext cx="555611" cy="5556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07190" y="5146854"/>
            <a:ext cx="325111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Encourage financial awareness and responsible spending</a:t>
            </a:r>
            <a:endParaRPr lang="en-US" sz="1750" dirty="0"/>
          </a:p>
        </p:txBody>
      </p:sp>
      <p:sp>
        <p:nvSpPr>
          <p:cNvPr id="22" name="Shape 14"/>
          <p:cNvSpPr/>
          <p:nvPr/>
        </p:nvSpPr>
        <p:spPr>
          <a:xfrm>
            <a:off x="10413739" y="177800"/>
            <a:ext cx="1549361" cy="622300"/>
          </a:xfrm>
          <a:prstGeom prst="roundRect">
            <a:avLst>
              <a:gd name="adj" fmla="val 19591"/>
            </a:avLst>
          </a:prstGeom>
          <a:solidFill>
            <a:srgbClr val="FFFF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9938" y="254000"/>
            <a:ext cx="1396965" cy="4699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84811855-D57E-945C-94C7-E38BFB17B566}"/>
              </a:ext>
            </a:extLst>
          </p:cNvPr>
          <p:cNvSpPr/>
          <p:nvPr/>
        </p:nvSpPr>
        <p:spPr>
          <a:xfrm>
            <a:off x="11037817" y="6580981"/>
            <a:ext cx="1153581" cy="19843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 no- 3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99852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06463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TECHNICAL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753914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Built with Excel, Word, and PowerPoint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792" y="1376839"/>
            <a:ext cx="1188690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Leveraging accessible desktop productivity software to build an integrated analysis and reporting pipeline.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04792" y="1893491"/>
            <a:ext cx="3657509" cy="4572099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6" name="Shape 4"/>
          <p:cNvSpPr/>
          <p:nvPr/>
        </p:nvSpPr>
        <p:spPr>
          <a:xfrm>
            <a:off x="304792" y="1893491"/>
            <a:ext cx="3657509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2193131"/>
            <a:ext cx="34543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CORE ENGINE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7987" y="2479342"/>
            <a:ext cx="32511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Microsoft Excel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87" y="2954504"/>
            <a:ext cx="3251119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The interactive computation backbone managing ledgers, formulas, and visual reporting.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7987" y="3975596"/>
            <a:ext cx="3251019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11" name="Text 9"/>
          <p:cNvSpPr/>
          <p:nvPr/>
        </p:nvSpPr>
        <p:spPr>
          <a:xfrm>
            <a:off x="507987" y="4191496"/>
            <a:ext cx="3251119" cy="202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Formula suite: </a:t>
            </a:r>
            <a:r>
              <a:rPr lang="en-US" sz="1750" dirty="0">
                <a:solidFill>
                  <a:srgbClr val="6EE7B7"/>
                </a:solidFill>
                <a:highlight>
                  <a:srgbClr val="064E3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SUMIF</a:t>
            </a: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, </a:t>
            </a:r>
            <a:r>
              <a:rPr lang="en-US" sz="1750" dirty="0">
                <a:solidFill>
                  <a:srgbClr val="6EE7B7"/>
                </a:solidFill>
                <a:highlight>
                  <a:srgbClr val="064E3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SUMIFS</a:t>
            </a: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, </a:t>
            </a:r>
            <a:r>
              <a:rPr lang="en-US" sz="1750" dirty="0">
                <a:solidFill>
                  <a:srgbClr val="6EE7B7"/>
                </a:solidFill>
                <a:highlight>
                  <a:srgbClr val="064E3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IF</a:t>
            </a: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, </a:t>
            </a:r>
            <a:r>
              <a:rPr lang="en-US" sz="1750" dirty="0">
                <a:solidFill>
                  <a:srgbClr val="6EE7B7"/>
                </a:solidFill>
                <a:highlight>
                  <a:srgbClr val="064E3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IFERROR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Dynamic conditional formatting rules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Native doughnut &amp; bar distribution charts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2359065" y="4197846"/>
            <a:ext cx="682806" cy="298450"/>
          </a:xfrm>
          <a:prstGeom prst="roundRect">
            <a:avLst>
              <a:gd name="adj" fmla="val 11170"/>
            </a:avLst>
          </a:prstGeom>
          <a:solidFill>
            <a:srgbClr val="F3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2466" y="4519712"/>
            <a:ext cx="804644" cy="298450"/>
          </a:xfrm>
          <a:prstGeom prst="roundRect">
            <a:avLst>
              <a:gd name="adj" fmla="val 11170"/>
            </a:avLst>
          </a:prstGeom>
          <a:solidFill>
            <a:srgbClr val="F3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2018" y="4519712"/>
            <a:ext cx="199028" cy="298450"/>
          </a:xfrm>
          <a:prstGeom prst="roundRect">
            <a:avLst>
              <a:gd name="adj" fmla="val 16750"/>
            </a:avLst>
          </a:prstGeom>
          <a:solidFill>
            <a:srgbClr val="F3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005955" y="4519712"/>
            <a:ext cx="906936" cy="298450"/>
          </a:xfrm>
          <a:prstGeom prst="roundRect">
            <a:avLst>
              <a:gd name="adj" fmla="val 11170"/>
            </a:avLst>
          </a:prstGeom>
          <a:solidFill>
            <a:srgbClr val="F3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7093" y="1893491"/>
            <a:ext cx="3657509" cy="4572099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7093" y="1893491"/>
            <a:ext cx="3657509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470288" y="2193131"/>
            <a:ext cx="34543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DOCUMENTATION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70288" y="2479342"/>
            <a:ext cx="32511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Microsoft Word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70288" y="2954504"/>
            <a:ext cx="3251119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Comprehensive project laboratory report documenting system architecture and design logic.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70288" y="3975596"/>
            <a:ext cx="3251019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22" name="Text 20"/>
          <p:cNvSpPr/>
          <p:nvPr/>
        </p:nvSpPr>
        <p:spPr>
          <a:xfrm>
            <a:off x="4470288" y="4191496"/>
            <a:ext cx="3251119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Formal lab minor project submission dossier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Detailed schema and formula explanations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Structured methodology and validation steps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229394" y="1893491"/>
            <a:ext cx="3657509" cy="4572099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394" y="1893491"/>
            <a:ext cx="3657509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432589" y="2193131"/>
            <a:ext cx="34543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PRESENTATION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32589" y="2479342"/>
            <a:ext cx="32511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PowerPoint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32589" y="2954504"/>
            <a:ext cx="3251119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Visual presentation slide deck engineered for viva defense and laboratory demonstration.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432589" y="3975596"/>
            <a:ext cx="3251019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29" name="Text 27"/>
          <p:cNvSpPr/>
          <p:nvPr/>
        </p:nvSpPr>
        <p:spPr>
          <a:xfrm>
            <a:off x="8432589" y="4191496"/>
            <a:ext cx="3251119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Structured viva evaluation walkthrough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Worksheet architecture breakdown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Summary findings and scope boundaries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0413739" y="177800"/>
            <a:ext cx="1549361" cy="622300"/>
          </a:xfrm>
          <a:prstGeom prst="roundRect">
            <a:avLst>
              <a:gd name="adj" fmla="val 19591"/>
            </a:avLst>
          </a:prstGeom>
          <a:solidFill>
            <a:srgbClr val="FFFFFF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938" y="254000"/>
            <a:ext cx="1396965" cy="4699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E00EB430-9B1A-6822-B597-FAA9582EC3A2}"/>
              </a:ext>
            </a:extLst>
          </p:cNvPr>
          <p:cNvSpPr/>
          <p:nvPr/>
        </p:nvSpPr>
        <p:spPr>
          <a:xfrm>
            <a:off x="11084767" y="6580981"/>
            <a:ext cx="1017037" cy="19843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 no-4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134120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From transaction entry to spending charts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04792" y="1754981"/>
            <a:ext cx="3657509" cy="2184698"/>
          </a:xfrm>
          <a:prstGeom prst="rect">
            <a:avLst/>
          </a:prstGeom>
          <a:solidFill>
            <a:srgbClr val="075E46"/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2003127"/>
            <a:ext cx="71941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65464" y="1991369"/>
            <a:ext cx="2868243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Enter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5464" y="2451080"/>
            <a:ext cx="2868243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Enter date, description, category, transaction type, amount, and payment method.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267093" y="1754981"/>
            <a:ext cx="3657509" cy="2184698"/>
          </a:xfrm>
          <a:prstGeom prst="rect">
            <a:avLst/>
          </a:prstGeom>
          <a:solidFill>
            <a:srgbClr val="075E46"/>
          </a:solidFill>
          <a:ln/>
        </p:spPr>
      </p:sp>
      <p:sp>
        <p:nvSpPr>
          <p:cNvPr id="8" name="Text 6"/>
          <p:cNvSpPr/>
          <p:nvPr/>
        </p:nvSpPr>
        <p:spPr>
          <a:xfrm>
            <a:off x="4495688" y="2003127"/>
            <a:ext cx="74918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857529" y="1991369"/>
            <a:ext cx="2838478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Categorize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57529" y="2451080"/>
            <a:ext cx="283847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Categorize transactions into expense categories.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229394" y="1754981"/>
            <a:ext cx="3657509" cy="2184698"/>
          </a:xfrm>
          <a:prstGeom prst="rect">
            <a:avLst/>
          </a:prstGeom>
          <a:solidFill>
            <a:srgbClr val="075E4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7988" y="2003127"/>
            <a:ext cx="75583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826478" y="1991369"/>
            <a:ext cx="2831831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Calculate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826478" y="2451080"/>
            <a:ext cx="283183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Excel formulas calculate totals automatically.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304792" y="4244479"/>
            <a:ext cx="5638659" cy="1553666"/>
          </a:xfrm>
          <a:prstGeom prst="rect">
            <a:avLst/>
          </a:prstGeom>
          <a:solidFill>
            <a:srgbClr val="075E46"/>
          </a:solidFill>
          <a:ln/>
        </p:spPr>
      </p:sp>
      <p:sp>
        <p:nvSpPr>
          <p:cNvPr id="16" name="Text 14"/>
          <p:cNvSpPr/>
          <p:nvPr/>
        </p:nvSpPr>
        <p:spPr>
          <a:xfrm>
            <a:off x="533387" y="4492625"/>
            <a:ext cx="75969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05745" y="4480867"/>
            <a:ext cx="4809112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Compare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05745" y="4940578"/>
            <a:ext cx="480911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Compare actual expenses with category budgets.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248244" y="4244479"/>
            <a:ext cx="5638659" cy="1553666"/>
          </a:xfrm>
          <a:prstGeom prst="rect">
            <a:avLst/>
          </a:prstGeom>
          <a:solidFill>
            <a:srgbClr val="075E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76838" y="4492625"/>
            <a:ext cx="7583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847808" y="4480867"/>
            <a:ext cx="4810501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Display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47808" y="4940578"/>
            <a:ext cx="503909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Display spending patterns using charts.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0413739" y="177800"/>
            <a:ext cx="1549361" cy="622300"/>
          </a:xfrm>
          <a:prstGeom prst="roundRect">
            <a:avLst>
              <a:gd name="adj" fmla="val 19591"/>
            </a:avLst>
          </a:prstGeom>
          <a:solidFill>
            <a:srgbClr val="FFFFF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938" y="254000"/>
            <a:ext cx="1396965" cy="4699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1D7A2867-92C9-0C6E-C07D-41A6BDE047E7}"/>
              </a:ext>
            </a:extLst>
          </p:cNvPr>
          <p:cNvSpPr/>
          <p:nvPr/>
        </p:nvSpPr>
        <p:spPr>
          <a:xfrm>
            <a:off x="11051515" y="6577161"/>
            <a:ext cx="1061463" cy="21332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 no-5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304800"/>
            <a:ext cx="6228004" cy="607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3879" y="571302"/>
            <a:ext cx="49478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CORE INTERFACE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243879" y="861922"/>
            <a:ext cx="4643024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The SmartSpend dashboard at a glance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243879" y="1799995"/>
            <a:ext cx="4643024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The Summary sheet brings key student budget metrics and spending visuals together.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243879" y="2746226"/>
            <a:ext cx="4643024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Key Financial Indicators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243879" y="3205428"/>
            <a:ext cx="4643024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Total Income, Total Expenses, Remaining Balance, and Savings Rate.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243879" y="4151659"/>
            <a:ext cx="4643024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Visual Distribution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243879" y="4610862"/>
            <a:ext cx="4643024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Category-wise spending doughnut chart and expense comparison bar chart.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43879" y="5557093"/>
            <a:ext cx="4643024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Monthly Savings Goal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243879" y="6016296"/>
            <a:ext cx="494781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Monthly savings goal and status.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616934" y="177800"/>
            <a:ext cx="1396965" cy="5588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132" y="254000"/>
            <a:ext cx="1244569" cy="406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9B3AD560-A4AA-1C83-3C47-2C13E0CF6F1A}"/>
              </a:ext>
            </a:extLst>
          </p:cNvPr>
          <p:cNvSpPr/>
          <p:nvPr/>
        </p:nvSpPr>
        <p:spPr>
          <a:xfrm>
            <a:off x="11085689" y="6558260"/>
            <a:ext cx="1016000" cy="21332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 no-6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51941"/>
            <a:ext cx="48462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WORKBOOK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742562"/>
            <a:ext cx="4541426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Three worksheets, one budget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792" y="1680635"/>
            <a:ext cx="454142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Three linked sheets keep transaction records, analysis, and budgets organized.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04792" y="2445890"/>
            <a:ext cx="454142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Expense Tracker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04792" y="2905093"/>
            <a:ext cx="454142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Stores transaction records.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04792" y="3648025"/>
            <a:ext cx="454142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Summary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04792" y="4107228"/>
            <a:ext cx="454142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Calculates financial indicators and visualizes spending.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04792" y="5129658"/>
            <a:ext cx="454142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Budget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4792" y="5588861"/>
            <a:ext cx="454142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Compares planned budgets with actual spending.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04792" y="6066830"/>
            <a:ext cx="2013197" cy="346670"/>
          </a:xfrm>
          <a:prstGeom prst="roundRect">
            <a:avLst>
              <a:gd name="adj" fmla="val 3297"/>
            </a:avLst>
          </a:prstGeom>
          <a:solidFill>
            <a:srgbClr val="D0FBE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139" y="6135120"/>
            <a:ext cx="235608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54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WITHIN BUDGET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9112" y="6066830"/>
            <a:ext cx="1784008" cy="346670"/>
          </a:xfrm>
          <a:prstGeom prst="roundRect">
            <a:avLst>
              <a:gd name="adj" fmla="val 3297"/>
            </a:avLst>
          </a:prstGeom>
          <a:solidFill>
            <a:srgbClr val="FDE2E2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2459" y="6135120"/>
            <a:ext cx="21268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54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OVER BUDGET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97" y="304800"/>
            <a:ext cx="6126406" cy="6248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04792" y="3405287"/>
            <a:ext cx="4541426" cy="12700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7" name="Shape 14"/>
          <p:cNvSpPr/>
          <p:nvPr/>
        </p:nvSpPr>
        <p:spPr>
          <a:xfrm>
            <a:off x="304792" y="4886920"/>
            <a:ext cx="4541426" cy="12700"/>
          </a:xfrm>
          <a:prstGeom prst="rect">
            <a:avLst/>
          </a:prstGeom>
          <a:solidFill>
            <a:srgbClr val="3A5075"/>
          </a:solidFill>
          <a:ln/>
        </p:spPr>
      </p:sp>
      <p:sp>
        <p:nvSpPr>
          <p:cNvPr id="18" name="Shape 15"/>
          <p:cNvSpPr/>
          <p:nvPr/>
        </p:nvSpPr>
        <p:spPr>
          <a:xfrm>
            <a:off x="10566136" y="177800"/>
            <a:ext cx="1396965" cy="5588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334" y="254000"/>
            <a:ext cx="1244569" cy="406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A3E085C4-4362-FAF0-7DE4-9F750A9A9904}"/>
              </a:ext>
            </a:extLst>
          </p:cNvPr>
          <p:cNvSpPr/>
          <p:nvPr/>
        </p:nvSpPr>
        <p:spPr>
          <a:xfrm>
            <a:off x="11108267" y="6558260"/>
            <a:ext cx="982133" cy="21507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Slide no-7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10071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764133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Seven habits that keep a student budget on track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792" y="1387058"/>
            <a:ext cx="1188690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Practical rules for healthy money management through the academic term.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2138363"/>
            <a:ext cx="548666" cy="54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755" y="1908323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1. Set a realistic monthly budget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5755" y="2367526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Set realistic monthly caps from known allowances, not optimistic ideals.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2" y="3315196"/>
            <a:ext cx="548666" cy="54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755" y="3085157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2. Separate needs from wants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005755" y="3544360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Prioritize course books, rent, and groceries over recreational spending.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2" y="4492030"/>
            <a:ext cx="548666" cy="548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755" y="4261990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3. Record expenses regularly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005755" y="4721193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Log every cash or card spend the same day to eliminate tracking debt.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2" y="5668863"/>
            <a:ext cx="548666" cy="5486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755" y="5438824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4. Set a savings target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1005755" y="5898027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Make minimum savings a mandatory initial expense at month start.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2138363"/>
            <a:ext cx="548666" cy="5486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207" y="1908323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5. Limit impulse purchases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6949207" y="2367526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Use a 24-hour wait before finalizing non-essential buying.</a:t>
            </a:r>
            <a:endParaRPr lang="en-US" sz="1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3315196"/>
            <a:ext cx="548666" cy="5486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49207" y="3085157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6. Review spending at month end</a:t>
            </a:r>
            <a:endParaRPr lang="en-US" sz="2100" dirty="0"/>
          </a:p>
        </p:txBody>
      </p:sp>
      <p:sp>
        <p:nvSpPr>
          <p:cNvPr id="22" name="Text 14"/>
          <p:cNvSpPr/>
          <p:nvPr/>
        </p:nvSpPr>
        <p:spPr>
          <a:xfrm>
            <a:off x="6949207" y="3544360"/>
            <a:ext cx="493769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Inspect category variances to re-align next month’s limits.</a:t>
            </a:r>
            <a:endParaRPr lang="en-US" sz="15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244" y="4631829"/>
            <a:ext cx="548666" cy="5486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9207" y="4261990"/>
            <a:ext cx="493769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7. Plan for unexpected expenses</a:t>
            </a:r>
            <a:endParaRPr lang="en-US" sz="2100" dirty="0"/>
          </a:p>
        </p:txBody>
      </p:sp>
      <p:sp>
        <p:nvSpPr>
          <p:cNvPr id="25" name="Text 16"/>
          <p:cNvSpPr/>
          <p:nvPr/>
        </p:nvSpPr>
        <p:spPr>
          <a:xfrm>
            <a:off x="6949207" y="4721193"/>
            <a:ext cx="4937696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Keep an unexpected contingency cushion: a 10% emergency buffer for medical, tech, or transit emergencies without breaking your budget.</a:t>
            </a:r>
            <a:endParaRPr lang="en-US" sz="1550" dirty="0"/>
          </a:p>
        </p:txBody>
      </p:sp>
      <p:sp>
        <p:nvSpPr>
          <p:cNvPr id="26" name="Shape 17"/>
          <p:cNvSpPr/>
          <p:nvPr/>
        </p:nvSpPr>
        <p:spPr>
          <a:xfrm>
            <a:off x="10566136" y="177800"/>
            <a:ext cx="1396965" cy="5588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2334" y="254000"/>
            <a:ext cx="1244569" cy="406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AACA8DAE-C132-663C-2088-454E274D92D8}"/>
              </a:ext>
            </a:extLst>
          </p:cNvPr>
          <p:cNvSpPr/>
          <p:nvPr/>
        </p:nvSpPr>
        <p:spPr>
          <a:xfrm>
            <a:off x="11051822" y="6558260"/>
            <a:ext cx="1038578" cy="21332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 no- 9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35074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06463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EVALUATION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789136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What the prototype shows, and where it stops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792" y="1412061"/>
            <a:ext cx="1188690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A transparent evaluation of current capabilities, operational constraints, and development horizons.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04792" y="1903313"/>
            <a:ext cx="3657509" cy="4527153"/>
          </a:xfrm>
          <a:prstGeom prst="roundRect">
            <a:avLst>
              <a:gd name="adj" fmla="val 312"/>
            </a:avLst>
          </a:prstGeom>
          <a:solidFill>
            <a:srgbClr val="12294A"/>
          </a:solidFill>
          <a:ln w="25399">
            <a:solidFill>
              <a:srgbClr val="238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86" y="2164854"/>
            <a:ext cx="34035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CAPABILITIES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8786" y="2453743"/>
            <a:ext cx="314952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100" spc="-2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Demonstrated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58786" y="2949476"/>
            <a:ext cx="3149521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9" name="Text 7"/>
          <p:cNvSpPr/>
          <p:nvPr/>
        </p:nvSpPr>
        <p:spPr>
          <a:xfrm>
            <a:off x="558786" y="3165376"/>
            <a:ext cx="3149521" cy="301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Automated real-time income and expense calculation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Clear category-wise breakdown of outflows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Immediate visual alerts on budget overruns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Transparent savings rate calculation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267093" y="1903313"/>
            <a:ext cx="3657509" cy="4527153"/>
          </a:xfrm>
          <a:prstGeom prst="roundRect">
            <a:avLst>
              <a:gd name="adj" fmla="val 312"/>
            </a:avLst>
          </a:prstGeom>
          <a:solidFill>
            <a:srgbClr val="12294A"/>
          </a:solidFill>
          <a:ln w="25399">
            <a:solidFill>
              <a:srgbClr val="238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1087" y="2164854"/>
            <a:ext cx="34035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BOUNDARIES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1087" y="2453743"/>
            <a:ext cx="314952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100" spc="-2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Limitations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21087" y="2949476"/>
            <a:ext cx="3149521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14" name="Text 12"/>
          <p:cNvSpPr/>
          <p:nvPr/>
        </p:nvSpPr>
        <p:spPr>
          <a:xfrm>
            <a:off x="4521087" y="3165376"/>
            <a:ext cx="3149521" cy="301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Evaluated strictly on fictional sample data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Requires manual transaction entry discipline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Standalone desktop spreadsheet prototype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No automated live bank API syncing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229394" y="1903313"/>
            <a:ext cx="3657509" cy="4527153"/>
          </a:xfrm>
          <a:prstGeom prst="roundRect">
            <a:avLst>
              <a:gd name="adj" fmla="val 312"/>
            </a:avLst>
          </a:prstGeom>
          <a:solidFill>
            <a:srgbClr val="12294A"/>
          </a:solidFill>
          <a:ln w="25399">
            <a:solidFill>
              <a:srgbClr val="238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3388" y="2164854"/>
            <a:ext cx="34035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HORIZONS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83388" y="2453743"/>
            <a:ext cx="314952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100" spc="-2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0"/>
              </a:rPr>
              <a:t>Future Scope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483388" y="2949476"/>
            <a:ext cx="3149521" cy="31651"/>
          </a:xfrm>
          <a:prstGeom prst="roundRect">
            <a:avLst>
              <a:gd name="adj" fmla="val 49998"/>
            </a:avLst>
          </a:prstGeom>
          <a:solidFill>
            <a:srgbClr val="3A5075"/>
          </a:solidFill>
          <a:ln/>
        </p:spPr>
      </p:sp>
      <p:sp>
        <p:nvSpPr>
          <p:cNvPr id="19" name="Text 17"/>
          <p:cNvSpPr/>
          <p:nvPr/>
        </p:nvSpPr>
        <p:spPr>
          <a:xfrm>
            <a:off x="8483388" y="3165376"/>
            <a:ext cx="3149521" cy="2695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Multi-month historical trend comparison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Slicers and interactive dashboard filters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Exportable PDF monthly performance cards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Optional student survey on budgeting habits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566136" y="177800"/>
            <a:ext cx="1396965" cy="5588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334" y="254000"/>
            <a:ext cx="1244569" cy="406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0"/>
              </a:rPr>
              <a:t>Slide No- 9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893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51359" y="1426865"/>
            <a:ext cx="65403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10B981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PROJECT CONCLUSION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651359" y="1860301"/>
            <a:ext cx="6235544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400" kern="100" spc="-224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Thank You</a:t>
            </a:r>
            <a:endParaRPr lang="en-US" sz="6400" dirty="0"/>
          </a:p>
        </p:txBody>
      </p:sp>
      <p:sp>
        <p:nvSpPr>
          <p:cNvPr id="5" name="Shape 2"/>
          <p:cNvSpPr/>
          <p:nvPr/>
        </p:nvSpPr>
        <p:spPr>
          <a:xfrm>
            <a:off x="5651359" y="2715915"/>
            <a:ext cx="2057547" cy="38100"/>
          </a:xfrm>
          <a:prstGeom prst="roundRect">
            <a:avLst>
              <a:gd name="adj" fmla="val 49999"/>
            </a:avLst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651359" y="2937403"/>
            <a:ext cx="6235544" cy="1983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dirty="0">
                <a:solidFill>
                  <a:srgbClr val="E6ECF2"/>
                </a:solidFill>
                <a:latin typeface="Libre Franklin" pitchFamily="34" charset="0"/>
                <a:ea typeface="Libre Franklin" pitchFamily="34" charset="-122"/>
                <a:cs typeface="Libre Franklin" pitchFamily="34" charset="0"/>
              </a:rPr>
              <a:t>SmartSpend shows how Excel formulas, conditional formatting, and data visualization support personal budget management, helping students monitor expenses, plan budgets, and build better saving habits.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51359" y="5125224"/>
            <a:ext cx="654033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b="1" dirty="0">
                <a:solidFill>
                  <a:srgbClr val="E6ECF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0"/>
              </a:rPr>
              <a:t>Questions?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566136" y="177800"/>
            <a:ext cx="1396965" cy="5588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334" y="254000"/>
            <a:ext cx="1244569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43741" y="6344940"/>
            <a:ext cx="29114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ACF11983-AAD7-39AF-CAF0-3A3907697AFB}"/>
              </a:ext>
            </a:extLst>
          </p:cNvPr>
          <p:cNvSpPr/>
          <p:nvPr/>
        </p:nvSpPr>
        <p:spPr>
          <a:xfrm>
            <a:off x="11051525" y="6575778"/>
            <a:ext cx="1106006" cy="20884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Slide no- 10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913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Libre Franklin Bold</vt:lpstr>
      <vt:lpstr>Arial</vt:lpstr>
      <vt:lpstr>Libre Franklin Medium</vt:lpstr>
      <vt:lpstr>Libre Franklin SemiBold</vt:lpstr>
      <vt:lpstr>Consolas</vt:lpstr>
      <vt:lpstr>Playfair Display</vt:lpstr>
      <vt:lpstr>Libre Franklin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Himanshu</cp:lastModifiedBy>
  <cp:revision>2</cp:revision>
  <dcterms:created xsi:type="dcterms:W3CDTF">2026-10-26T14:38:18Z</dcterms:created>
  <dcterms:modified xsi:type="dcterms:W3CDTF">2026-10-26T14:51:43Z</dcterms:modified>
</cp:coreProperties>
</file>